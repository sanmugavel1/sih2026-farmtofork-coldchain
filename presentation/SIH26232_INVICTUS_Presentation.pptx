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5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10" Type="http://schemas.openxmlformats.org/officeDocument/2006/relationships/hyperlink" Target="https://github.com/Sanmugavel1/SIH2026-FarmToFork-ColdChain" TargetMode="External"/><Relationship Id="rId11" Type="http://schemas.openxmlformats.org/officeDocument/2006/relationships/hyperlink" Target="https://youtu.be/o2jbTQCLLz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30546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8D305286-1630-2660-3874-D463598343ED}"/>
              </a:ext>
            </a:extLst>
          </p:cNvPr>
          <p:cNvSpPr txBox="1"/>
          <p:nvPr/>
        </p:nvSpPr>
        <p:spPr>
          <a:xfrm>
            <a:off x="295122" y="1518230"/>
            <a:ext cx="6990581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SIH2</a:t>
            </a:r>
            <a:r>
              <a:rPr lang="en-IN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6232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Low-Cost </a:t>
            </a:r>
            <a:r>
              <a:rPr lang="en-IN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loT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Block chain Nodes for Farm-to-Fork Traceability</a:t>
            </a:r>
            <a:endParaRPr lang="en-IN" sz="22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Agriculture, </a:t>
            </a:r>
            <a:r>
              <a:rPr lang="en-IN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Hardware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ID- 159400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INVICTUS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SmartCool</a:t>
            </a: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Solar-Powered Smart Mini Cold Storage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IoT Blockchain Node for Tamper-Proof Farm-to-Fork Cold-Chain Traceability with Offline Data Logging and Secure Environmental Monitoring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887200" y="6426273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1560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560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decentralized, solar-powered mini cold-storage unit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farm-gate, village collection centres and FPOs : a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storage buffer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harvest and transport.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359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359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Insulated chamber + DC compressor refrigeration + forced-air circulation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fed by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→ MPPT → Battery → DC bus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unreliable-grid and off-grid sites.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3158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158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closed-loop control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hysteresis holds crop-specific temperature and humidity;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 modes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(Normal / Energy-Aware / Critical) protect produce on low battery.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20040" y="3957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57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high temperature, door-open, low battery, solar-charging and cooling failure, with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buzzer / LED / display alerts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need no internet.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20040" y="4756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756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RTC + MicroSD logging with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 sync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(Wi-Fi / GSM) and a simple crop-select interface; set-points validated on the prototype.</a:t>
            </a:r>
            <a:endParaRPr lang="en-US" sz="1250" dirty="0"/>
          </a:p>
        </p:txBody>
      </p:sp>
      <p:sp>
        <p:nvSpPr>
          <p:cNvPr id="90" name="Shape 18"/>
          <p:cNvSpPr/>
          <p:nvPr/>
        </p:nvSpPr>
        <p:spPr>
          <a:xfrm>
            <a:off x="320040" y="5555000"/>
            <a:ext cx="7589520" cy="735000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91" name="Text 19"/>
          <p:cNvSpPr txBox="1"/>
          <p:nvPr/>
        </p:nvSpPr>
        <p:spPr>
          <a:xfrm>
            <a:off x="548640" y="5555000"/>
            <a:ext cx="7132320" cy="7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traceability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every sensor record is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hashed and anchored to a blockchain ledger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giving a tamper-proof farm-to-fork audit trail.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6172200"/>
            <a:ext cx="3657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Physical cold storage is the product; IoT is the supporting layer.</a:t>
            </a:r>
            <a:endParaRPr lang="en-US" sz="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850F99-3177-CE5C-30C7-7FC6DAC59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136" y="1823202"/>
            <a:ext cx="3974094" cy="39740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5B31DF4-B1A3-A762-1762-1EFA9C929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880" y="980526"/>
            <a:ext cx="8186384" cy="32784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F9505F-F35E-47AE-CA91-6EE4555D4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6" y="933531"/>
            <a:ext cx="3735137" cy="297058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4729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19131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609" y="-180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36083" y="637476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919880" y="50026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Techstack Used: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56854" y="5281636"/>
            <a:ext cx="3418737" cy="1191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+ MPPT controller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(BESS) + DC protection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compressor refrigeration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PU/PIR insulated chamber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(Arduino / ESP-IDF C++)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1313781" y="6000121"/>
            <a:ext cx="988064" cy="254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H="1">
            <a:off x="3838128" y="933531"/>
            <a:ext cx="14007" cy="5074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75DBE3-C902-6BD1-465B-3DD56CB55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42" y="3639255"/>
            <a:ext cx="3631041" cy="23406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F91E1C-4A37-6225-828B-2AE674DA163C}"/>
              </a:ext>
            </a:extLst>
          </p:cNvPr>
          <p:cNvSpPr txBox="1"/>
          <p:nvPr/>
        </p:nvSpPr>
        <p:spPr>
          <a:xfrm>
            <a:off x="8080310" y="57817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79D1E-CC2E-719D-2A95-F20C155AFF1B}"/>
              </a:ext>
            </a:extLst>
          </p:cNvPr>
          <p:cNvSpPr txBox="1"/>
          <p:nvPr/>
        </p:nvSpPr>
        <p:spPr>
          <a:xfrm>
            <a:off x="7036682" y="5282155"/>
            <a:ext cx="238163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Digital temp + RH sensors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Reed switch, V/I sensors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RTC + MicroSD, OLED/LCD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Wi-Fi / GSM / LoRa (optional)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Web dashboard (optional)</a:t>
            </a:r>
            <a:endParaRPr lang="en-US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DDD451-F32D-0C0F-581E-8ABE8D2F7DB4}"/>
              </a:ext>
            </a:extLst>
          </p:cNvPr>
          <p:cNvSpPr txBox="1"/>
          <p:nvPr/>
        </p:nvSpPr>
        <p:spPr>
          <a:xfrm>
            <a:off x="7675591" y="4318978"/>
            <a:ext cx="1671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Dashboard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FB88D48-BB0F-7753-CD21-B2B8FA9D3EDD}"/>
              </a:ext>
            </a:extLst>
          </p:cNvPr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IoT Blockchain Node for Tamper-Proof Farm-to-Fork Cold-Chain Traceability with Offline Data Logging and Secure Environmental Monitoring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41480" y="63779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1234440"/>
          <a:ext cx="11521440" cy="3429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of the feasibility of the idea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challenges and risks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Strategies for overcoming these challenges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– Achievable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Sizing solar, battery and cooling load for NER climate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Cooling-load and energy calculations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hardware selection; proven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refrigeration, MPPT and standard sensors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ratings validated on the prototype.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 – Resilient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Cloudy / rainy days, night, grid outages, no network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+ battery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with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energy-aware / critical modes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offline-first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control, alerts and logging; fault detection for cooling, door and solar failure.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– Practical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Unreliable power &amp; connectivity; limited </a:t>
                      </a:r>
                      <a:r>
                        <a:rPr lang="en-IN" sz="13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cold-storage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 access; limited technical support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data storage + cloud synchronization, </a:t>
                      </a:r>
                      <a:r>
                        <a:rPr lang="en-IN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 Holdover Time Prediction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intelligent alerts, farmer-friendly crop selection, local status display, offline-first operation, </a:t>
                      </a:r>
                      <a:r>
                        <a:rPr lang="en-IN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weather-resistant modular unit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.</a:t>
                      </a:r>
                      <a:endParaRPr lang="en-US" sz="120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20040" y="48920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that feasibility and viability are our top priority we will ensure to keep everything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0040" y="525780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viable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solar, DC refrigeration and ESP32 technology; one or two crops validated first.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Economically feasible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modular units for FPO / collection-centre deployment; cost to be worked out after design.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Environmentally sound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solar energy, energy-efficient cooling, designed to cut post-harvest and transport losses.</a:t>
            </a:r>
            <a:endParaRPr lang="en-US" sz="1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AF48E0B-DF92-3C6C-97A3-000DBFFBD8DD}"/>
              </a:ext>
            </a:extLst>
          </p:cNvPr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IoT Blockchain Node for Tamper-Proof Farm-to-Fork Cold-Chain Traceability with Offline Data Logging and Secure Environmental Monitoring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99143" y="64236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188720"/>
            <a:ext cx="5669280" cy="3931920"/>
          </a:xfrm>
          <a:prstGeom prst="roundRect">
            <a:avLst>
              <a:gd name="adj" fmla="val 3488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097280"/>
            <a:ext cx="51206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5400">
            <a:solidFill>
              <a:srgbClr val="F06B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Target Audience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6916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Farmers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forced immediate sale and spoilage; flexible transport timing.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FPOs &amp; Cooperatives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monitored local storage at aggregation points.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Village collection centres / traders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produce handling before transport to markets.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Remote NER communities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access without depending on grid supply.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Government / MDoNER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decentralized horticulture cold-chain model.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9048" y="1188720"/>
            <a:ext cx="0" cy="3931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217920" y="1188720"/>
            <a:ext cx="5669280" cy="3931920"/>
          </a:xfrm>
          <a:prstGeom prst="roundRect">
            <a:avLst>
              <a:gd name="adj" fmla="val 3488"/>
            </a:avLst>
          </a:prstGeom>
          <a:solidFill>
            <a:srgbClr val="BFEFF7"/>
          </a:solidFill>
          <a:ln w="12700">
            <a:solidFill>
              <a:srgbClr val="BFEF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1097280"/>
            <a:ext cx="51206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5400">
            <a:solidFill>
              <a:srgbClr val="F06B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16916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Social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farmer bargaining flexibility; supports cooperatives.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Economic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income opportunity by cutting post-harvest losses.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Environmental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solar energy; less wasted produce and transport.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Technological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Energy-aware, offline-first rural embedded system.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Strategic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modular units across horticultural clusters.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" y="52120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the working prototype: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stability</a:t>
            </a:r>
            <a:endParaRPr lang="en-US" sz="1000" b="1" dirty="0"/>
          </a:p>
        </p:txBody>
      </p:sp>
      <p:sp>
        <p:nvSpPr>
          <p:cNvPr id="22" name="Shape 19"/>
          <p:cNvSpPr/>
          <p:nvPr/>
        </p:nvSpPr>
        <p:spPr>
          <a:xfrm>
            <a:off x="1764792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64792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response</a:t>
            </a:r>
            <a:endParaRPr lang="en-US" sz="1000" b="1" dirty="0"/>
          </a:p>
        </p:txBody>
      </p:sp>
      <p:sp>
        <p:nvSpPr>
          <p:cNvPr id="24" name="Shape 21"/>
          <p:cNvSpPr/>
          <p:nvPr/>
        </p:nvSpPr>
        <p:spPr>
          <a:xfrm>
            <a:off x="3209544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9544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charging</a:t>
            </a:r>
            <a:endParaRPr lang="en-US" sz="1000" b="1" dirty="0"/>
          </a:p>
        </p:txBody>
      </p:sp>
      <p:sp>
        <p:nvSpPr>
          <p:cNvPr id="26" name="Shape 23"/>
          <p:cNvSpPr/>
          <p:nvPr/>
        </p:nvSpPr>
        <p:spPr>
          <a:xfrm>
            <a:off x="4654296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54296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backup</a:t>
            </a:r>
            <a:endParaRPr lang="en-US" sz="1000" b="1" dirty="0"/>
          </a:p>
        </p:txBody>
      </p:sp>
      <p:sp>
        <p:nvSpPr>
          <p:cNvPr id="28" name="Shape 25"/>
          <p:cNvSpPr/>
          <p:nvPr/>
        </p:nvSpPr>
        <p:spPr>
          <a:xfrm>
            <a:off x="6099048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9600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Holdover Time Prediction</a:t>
            </a:r>
            <a:endParaRPr lang="en-US" sz="1000" b="1" dirty="0"/>
          </a:p>
        </p:txBody>
      </p:sp>
      <p:sp>
        <p:nvSpPr>
          <p:cNvPr id="30" name="Shape 27"/>
          <p:cNvSpPr/>
          <p:nvPr/>
        </p:nvSpPr>
        <p:spPr>
          <a:xfrm>
            <a:off x="7543800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4380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response</a:t>
            </a:r>
            <a:endParaRPr lang="en-US" sz="1000" b="1" dirty="0"/>
          </a:p>
        </p:txBody>
      </p:sp>
      <p:sp>
        <p:nvSpPr>
          <p:cNvPr id="32" name="Shape 29"/>
          <p:cNvSpPr/>
          <p:nvPr/>
        </p:nvSpPr>
        <p:spPr>
          <a:xfrm>
            <a:off x="8988552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88552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log retention</a:t>
            </a:r>
            <a:endParaRPr lang="en-US" sz="1000" b="1" dirty="0"/>
          </a:p>
        </p:txBody>
      </p:sp>
      <p:sp>
        <p:nvSpPr>
          <p:cNvPr id="34" name="Shape 31"/>
          <p:cNvSpPr/>
          <p:nvPr/>
        </p:nvSpPr>
        <p:spPr>
          <a:xfrm>
            <a:off x="10433304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433304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quality check</a:t>
            </a:r>
            <a:endParaRPr lang="en-US" sz="1000" b="1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E4357EFD-F6B3-B898-6415-CEDA6F6AB5C9}"/>
              </a:ext>
            </a:extLst>
          </p:cNvPr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IoT Blockchain Node for Tamper-Proof Farm-to-Fork Cold-Chain Traceability with Offline Data Logging and Secure Environmental Monitoring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 AND REFERENCES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0" name="GitHub Link">
            <a:hlinkClick r:id="rId10"/>
          </p:cNvPr>
          <p:cNvSpPr/>
          <p:nvPr/>
        </p:nvSpPr>
        <p:spPr>
          <a:xfrm>
            <a:off x="320040" y="5541264"/>
            <a:ext cx="6583680" cy="722376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wrap="square" lIns="182880" tIns="45720" rIns="182880" bIns="45720" rtlCol="0" anchor="ctr">
            <a:normAutofit/>
          </a:bodyPr>
          <a:lstStyle/>
          <a:p>
            <a:pPr algn="ctr">
              <a:buNone/>
            </a:pPr>
            <a:r>
              <a:rPr lang="en-US" sz="1200" b="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(code, firmware, dashboard)</a:t>
            </a:r>
          </a:p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github.com/Sanmugavel1/SIH2026-FarmToFork-ColdChain</a:t>
            </a:r>
          </a:p>
        </p:txBody>
      </p:sp>
      <p:sp>
        <p:nvSpPr>
          <p:cNvPr id="41" name="Video Link">
            <a:hlinkClick r:id="rId11"/>
          </p:cNvPr>
          <p:cNvSpPr/>
          <p:nvPr/>
        </p:nvSpPr>
        <p:spPr>
          <a:xfrm>
            <a:off x="7086600" y="5541264"/>
            <a:ext cx="4754880" cy="722376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wrap="square" lIns="182880" tIns="45720" rIns="182880" bIns="45720" rtlCol="0" anchor="ctr">
            <a:normAutofit/>
          </a:bodyPr>
          <a:lstStyle/>
          <a:p>
            <a:pPr algn="ctr">
              <a:buNone/>
            </a:pPr>
            <a:r>
              <a:rPr lang="en-US" sz="1200" b="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Video</a:t>
            </a:r>
          </a:p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youtu.be/o2jbTQCLLzo</a:t>
            </a:r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Survey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1417320"/>
          <a:ext cx="1152144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 Systems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centralized cold rooms, far from farms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Decentralized farm-gate / village mini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Grid-dependent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+ battery, energy-aware operation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thermostat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Closed-loop, crop-specific profiles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checks, network-dependent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Offline-first logging + local alerts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after damage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 / door / solar fault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records, easily altered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Blockchain-anchored, tamper-proof sensor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20040" y="40233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20040" y="4270248"/>
            <a:ext cx="11521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FAO, “Global Food Losses and Food Waste – Extent, Causes and Prevention”, Rome (2011).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ICAR-CIPHET, “Assessment of Quantitative Harvest and Post-Harvest Losses of Major Crops and Commodities in India”, Ludhiana (2015).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National Centre for Cold-chain Development (NCCD) and National Horticulture Board (NHB): cold-chain infrastructure and horticulture data.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MNRE / NABARD: solar-powered cold storage and agri-infrastructure guidelines.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Peer-reviewed literature on solar PV–battery DC refrigeration and small-scale vegetable cold storage (to be shortlisted).</a:t>
            </a:r>
            <a:endParaRPr lang="en-US" sz="11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582E103-446A-6D0A-D486-E185E73D3F81}"/>
              </a:ext>
            </a:extLst>
          </p:cNvPr>
          <p:cNvSpPr txBox="1"/>
          <p:nvPr/>
        </p:nvSpPr>
        <p:spPr>
          <a:xfrm>
            <a:off x="11841480" y="6356013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0E1B182-6B8C-F131-2CB7-C9259B743BCF}"/>
              </a:ext>
            </a:extLst>
          </p:cNvPr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IoT Blockchain Node for Tamper-Proof Farm-to-Fork Cold-Chain Traceability with Offline Data Logging and Secure Environmental Monitoring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965</Words>
  <Application>Microsoft Office PowerPoint</Application>
  <PresentationFormat>Widescreen</PresentationFormat>
  <Paragraphs>140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SIH26232 Farm-to-Fork Cold Chain - Team INVICTUS</dc:title>
  <dc:subject/>
  <dc:creator>Crowdfunder</dc:creator>
  <cp:keywords/>
  <dc:description/>
  <cp:lastModifiedBy>UMAR FAZIL K</cp:lastModifiedBy>
  <cp:revision>149</cp:revision>
  <dcterms:created xsi:type="dcterms:W3CDTF">2013-12-12T18:46:50Z</dcterms:created>
  <dcterms:modified xsi:type="dcterms:W3CDTF">2026-09-30T14:40:45Z</dcterms:modified>
  <cp:category/>
</cp:coreProperties>
</file>